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06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BC75-4A77-4953-83C6-49579C53469A}" type="datetimeFigureOut">
              <a:rPr lang="en-IN" smtClean="0"/>
              <a:pPr/>
              <a:t>1/20/2018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1D97-12A9-41DF-B030-2A4572BF0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BC75-4A77-4953-83C6-49579C53469A}" type="datetimeFigureOut">
              <a:rPr lang="en-IN" smtClean="0"/>
              <a:pPr/>
              <a:t>1/20/2018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1D97-12A9-41DF-B030-2A4572BF0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BC75-4A77-4953-83C6-49579C53469A}" type="datetimeFigureOut">
              <a:rPr lang="en-IN" smtClean="0"/>
              <a:pPr/>
              <a:t>1/20/2018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1D97-12A9-41DF-B030-2A4572BF0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BC75-4A77-4953-83C6-49579C53469A}" type="datetimeFigureOut">
              <a:rPr lang="en-IN" smtClean="0"/>
              <a:pPr/>
              <a:t>1/20/2018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1D97-12A9-41DF-B030-2A4572BF0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BC75-4A77-4953-83C6-49579C53469A}" type="datetimeFigureOut">
              <a:rPr lang="en-IN" smtClean="0"/>
              <a:pPr/>
              <a:t>1/20/2018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1D97-12A9-41DF-B030-2A4572BF0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BC75-4A77-4953-83C6-49579C53469A}" type="datetimeFigureOut">
              <a:rPr lang="en-IN" smtClean="0"/>
              <a:pPr/>
              <a:t>1/20/2018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1D97-12A9-41DF-B030-2A4572BF0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BC75-4A77-4953-83C6-49579C53469A}" type="datetimeFigureOut">
              <a:rPr lang="en-IN" smtClean="0"/>
              <a:pPr/>
              <a:t>1/20/2018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1D97-12A9-41DF-B030-2A4572BF0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BC75-4A77-4953-83C6-49579C53469A}" type="datetimeFigureOut">
              <a:rPr lang="en-IN" smtClean="0"/>
              <a:pPr/>
              <a:t>1/20/2018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1D97-12A9-41DF-B030-2A4572BF0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BC75-4A77-4953-83C6-49579C53469A}" type="datetimeFigureOut">
              <a:rPr lang="en-IN" smtClean="0"/>
              <a:pPr/>
              <a:t>1/20/2018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1D97-12A9-41DF-B030-2A4572BF0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BC75-4A77-4953-83C6-49579C53469A}" type="datetimeFigureOut">
              <a:rPr lang="en-IN" smtClean="0"/>
              <a:pPr/>
              <a:t>1/20/2018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1D97-12A9-41DF-B030-2A4572BF0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1BC75-4A77-4953-83C6-49579C53469A}" type="datetimeFigureOut">
              <a:rPr lang="en-IN" smtClean="0"/>
              <a:pPr/>
              <a:t>1/20/2018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1D97-12A9-41DF-B030-2A4572BF0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1BC75-4A77-4953-83C6-49579C53469A}" type="datetimeFigureOut">
              <a:rPr lang="en-IN" smtClean="0"/>
              <a:pPr/>
              <a:t>1/20/2018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91D97-12A9-41DF-B030-2A4572BF0D9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7200" dirty="0" smtClean="0"/>
              <a:t>PHASES OF TESTING</a:t>
            </a:r>
            <a:endParaRPr lang="en-IN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PHASES OF TESTING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REQUIREMENTS PHASE TESTING</a:t>
            </a:r>
          </a:p>
          <a:p>
            <a:r>
              <a:rPr lang="en-IN" dirty="0" smtClean="0"/>
              <a:t>DESIGN PHASE TESTING</a:t>
            </a:r>
          </a:p>
          <a:p>
            <a:r>
              <a:rPr lang="en-IN" dirty="0" smtClean="0"/>
              <a:t>PROGRAMMING PHASE TESTING</a:t>
            </a:r>
          </a:p>
          <a:p>
            <a:r>
              <a:rPr lang="en-IN" dirty="0" smtClean="0"/>
              <a:t>TESTING PHASE TESTING PROCESS</a:t>
            </a:r>
          </a:p>
          <a:p>
            <a:r>
              <a:rPr lang="en-IN" dirty="0" smtClean="0"/>
              <a:t>INSTALLATION PHASE TESTING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REQUIREMENTS PHASE TESTING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Testing should begin during requirements phase, because critical system decisions are made during this stage.</a:t>
            </a:r>
          </a:p>
          <a:p>
            <a:r>
              <a:rPr lang="en-IN" dirty="0" smtClean="0"/>
              <a:t>Testing at this stage helps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 smtClean="0"/>
              <a:t>To ensure that requirements are properly recorded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 smtClean="0"/>
              <a:t>Have been correctly interpreted by the project team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 smtClean="0"/>
              <a:t>Requirements are reasonable when measured against good practices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 smtClean="0"/>
              <a:t>Ensure that requirements are recorded in accordance with the department’s guidelines, standards</a:t>
            </a:r>
            <a:r>
              <a:rPr lang="en-IN" dirty="0"/>
              <a:t> </a:t>
            </a:r>
            <a:r>
              <a:rPr lang="en-IN" dirty="0" smtClean="0"/>
              <a:t>and procedures</a:t>
            </a:r>
          </a:p>
          <a:p>
            <a:pPr lvl="1"/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922115"/>
          </a:xfrm>
        </p:spPr>
        <p:txBody>
          <a:bodyPr>
            <a:normAutofit/>
          </a:bodyPr>
          <a:lstStyle/>
          <a:p>
            <a:pPr algn="l"/>
            <a:r>
              <a:rPr lang="en-IN" sz="3600" dirty="0" smtClean="0"/>
              <a:t>REQUIREMENTS PHASE TEST PROCESS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72608"/>
          </a:xfrm>
        </p:spPr>
        <p:txBody>
          <a:bodyPr>
            <a:normAutofit fontScale="92500" lnSpcReduction="20000"/>
          </a:bodyPr>
          <a:lstStyle/>
          <a:p>
            <a:r>
              <a:rPr lang="en-IN" dirty="0" smtClean="0"/>
              <a:t>TEST FACTOR:</a:t>
            </a:r>
          </a:p>
          <a:p>
            <a:pPr lvl="1"/>
            <a:r>
              <a:rPr lang="en-IN" b="1" dirty="0" smtClean="0">
                <a:solidFill>
                  <a:srgbClr val="7030A0"/>
                </a:solidFill>
              </a:rPr>
              <a:t>Requirements comply with methodology</a:t>
            </a:r>
          </a:p>
          <a:p>
            <a:r>
              <a:rPr lang="en-IN" dirty="0" smtClean="0"/>
              <a:t>TEST CRITERIA: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 smtClean="0"/>
              <a:t>Have the applicable organization’s policies and procedures been identified?</a:t>
            </a:r>
          </a:p>
          <a:p>
            <a:pPr marL="1371600" lvl="2" indent="-457200"/>
            <a:r>
              <a:rPr lang="en-IN" dirty="0" smtClean="0"/>
              <a:t>TEST: Confirm with those individuals responsible for developing the policies and procedures that all the applicable policies have been identified.</a:t>
            </a:r>
            <a:endParaRPr lang="en-IN" dirty="0"/>
          </a:p>
          <a:p>
            <a:pPr marL="1028700" lvl="1" indent="-514350">
              <a:buFont typeface="+mj-lt"/>
              <a:buAutoNum type="arabicPeriod"/>
            </a:pPr>
            <a:r>
              <a:rPr lang="en-IN" dirty="0" smtClean="0"/>
              <a:t>Do the requirements comply with these policies and procedures?</a:t>
            </a:r>
          </a:p>
          <a:p>
            <a:pPr marL="1428750" lvl="2" indent="-514350"/>
            <a:r>
              <a:rPr lang="en-IN" dirty="0" smtClean="0"/>
              <a:t>TEST: Review requirement to ensure compliance</a:t>
            </a:r>
          </a:p>
          <a:p>
            <a:pPr marL="1028700" lvl="1" indent="-514350">
              <a:buFont typeface="+mj-lt"/>
              <a:buAutoNum type="arabicPeriod"/>
            </a:pPr>
            <a:r>
              <a:rPr lang="en-IN" dirty="0" smtClean="0"/>
              <a:t>Is cost/benefit analysis prepared in accordance with the appropriate procedures?</a:t>
            </a:r>
          </a:p>
          <a:p>
            <a:pPr marL="1428750" lvl="2" indent="-514350"/>
            <a:r>
              <a:rPr lang="en-IN" dirty="0" smtClean="0"/>
              <a:t>TEST  TOOL: CHECK LIST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994123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 smtClean="0"/>
              <a:t>REQUIREMENTS PHASE TEST PROCESS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TEST CRITERIA:</a:t>
            </a:r>
          </a:p>
          <a:p>
            <a:pPr marL="971550" lvl="1" indent="-514350">
              <a:buFont typeface="+mj-lt"/>
              <a:buAutoNum type="arabicPeriod" startAt="4"/>
            </a:pPr>
            <a:r>
              <a:rPr lang="en-IN" dirty="0" smtClean="0"/>
              <a:t>Is the requirements phase staffed according to the procedures?</a:t>
            </a:r>
          </a:p>
          <a:p>
            <a:pPr marL="1371600" lvl="2" indent="-457200"/>
            <a:r>
              <a:rPr lang="en-IN" dirty="0" smtClean="0"/>
              <a:t>TEST: Verify that the project is appropriately staffed</a:t>
            </a:r>
          </a:p>
          <a:p>
            <a:pPr marL="971550" lvl="1" indent="-514350">
              <a:buFont typeface="+mj-lt"/>
              <a:buAutoNum type="arabicPeriod" startAt="5"/>
            </a:pPr>
            <a:r>
              <a:rPr lang="en-IN" dirty="0" smtClean="0"/>
              <a:t>Will all of the applicable policies, procedures and requirements be in effect at the time the system goes in operation?</a:t>
            </a:r>
          </a:p>
          <a:p>
            <a:pPr marL="1371600" lvl="2" indent="-457200"/>
            <a:r>
              <a:rPr lang="en-IN" dirty="0" smtClean="0"/>
              <a:t>TEST: Confirm with the appropriate departments, the effective dates of existing policies, procedures and regulations.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DESIGN PHASE TESTING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 smtClean="0"/>
              <a:t>TEST FACTOR: </a:t>
            </a:r>
            <a:r>
              <a:rPr lang="en-IN" b="1" dirty="0" smtClean="0">
                <a:solidFill>
                  <a:srgbClr val="7030A0"/>
                </a:solidFill>
              </a:rPr>
              <a:t>DATA INTEGRITY CONTROLS DESIGNED</a:t>
            </a:r>
          </a:p>
          <a:p>
            <a:pPr>
              <a:buNone/>
            </a:pP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Are the input transactions controlled, such as through a sequential input number, to ensure that all transactions are entered?</a:t>
            </a:r>
          </a:p>
          <a:p>
            <a:pPr marL="971550" lvl="1" indent="-514350">
              <a:buFont typeface="Arial" pitchFamily="34" charset="0"/>
              <a:buChar char="•"/>
            </a:pPr>
            <a:r>
              <a:rPr lang="en-IN" dirty="0" smtClean="0"/>
              <a:t>Test: Review the adequacy of input controls to ensure that all input is entered.</a:t>
            </a:r>
            <a:endParaRPr lang="en-IN" dirty="0"/>
          </a:p>
          <a:p>
            <a:pPr marL="514350" indent="-514350">
              <a:buFont typeface="+mj-lt"/>
              <a:buAutoNum type="arabicPeriod" startAt="2"/>
            </a:pPr>
            <a:r>
              <a:rPr lang="en-IN" dirty="0" smtClean="0"/>
              <a:t>Are the communication controls established to ensure the accurate and complete transmission of data?</a:t>
            </a:r>
          </a:p>
          <a:p>
            <a:pPr marL="971550" lvl="1" indent="-514350">
              <a:buFont typeface="Arial" pitchFamily="34" charset="0"/>
              <a:buChar char="•"/>
            </a:pPr>
            <a:r>
              <a:rPr lang="en-IN" dirty="0" smtClean="0"/>
              <a:t>Test: Review the adequacy of transmission accuracy and completeness controls.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DESIGN PHASE TESTING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IN" dirty="0" smtClean="0"/>
              <a:t>Are check digits or equivalent controls used on key control fields such as Product Number, to ensure the accurate entry of product number?</a:t>
            </a:r>
          </a:p>
          <a:p>
            <a:pPr marL="971550" lvl="1" indent="-514350">
              <a:buFont typeface="Arial" pitchFamily="34" charset="0"/>
              <a:buChar char="•"/>
            </a:pPr>
            <a:r>
              <a:rPr lang="en-IN" dirty="0" smtClean="0"/>
              <a:t>TEST: Verify that key fields use procedures that ensure the accurate entry of that information.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en-IN" dirty="0" smtClean="0"/>
              <a:t>Is each field subject to extensive data validation check?</a:t>
            </a:r>
          </a:p>
          <a:p>
            <a:pPr marL="971550" lvl="1" indent="-514350">
              <a:buFont typeface="Arial" pitchFamily="34" charset="0"/>
              <a:buChar char="•"/>
            </a:pPr>
            <a:r>
              <a:rPr lang="en-IN" dirty="0" smtClean="0"/>
              <a:t>TEST: Examine the type and scope of data validation checks for each key field to determine that they are adequate.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PROGRAMMING PHASE TESTING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TEST FACTOR: </a:t>
            </a:r>
            <a:r>
              <a:rPr lang="en-IN" b="1" dirty="0" smtClean="0">
                <a:solidFill>
                  <a:srgbClr val="7030A0"/>
                </a:solidFill>
              </a:rPr>
              <a:t>DATA INTEGRITY CONTROLS IMPLEMENTED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Have procedures been written indicating how to record transactions for entry into automated system?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Have procedures been established to take corrective action on data errors?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PROGRAMMING PHASE TESTING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TEST FACTOR: </a:t>
            </a:r>
            <a:r>
              <a:rPr lang="en-IN" b="1" dirty="0" smtClean="0">
                <a:solidFill>
                  <a:srgbClr val="7030A0"/>
                </a:solidFill>
              </a:rPr>
              <a:t>AUTHORIZATION RULES 				IMPLEMENTED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Have procedures been established to identify and act upon violations of automated authorization procedures?</a:t>
            </a:r>
          </a:p>
          <a:p>
            <a:pPr marL="971550" lvl="1" indent="-514350">
              <a:buFont typeface="Arial" pitchFamily="34" charset="0"/>
              <a:buChar char="•"/>
            </a:pPr>
            <a:r>
              <a:rPr lang="en-IN" dirty="0" smtClean="0"/>
              <a:t>TEST TOOL: Walk-through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PROGRAMMING PHASE TESTING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TEST FACTOR: </a:t>
            </a:r>
            <a:r>
              <a:rPr lang="en-IN" b="1" dirty="0" smtClean="0">
                <a:solidFill>
                  <a:srgbClr val="7030A0"/>
                </a:solidFill>
              </a:rPr>
              <a:t>DESIGN SYSTEM TO ACHIEVE 			         SERVICE LEVEL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Do the implemented systems/programs perform in accordance with desired service level?</a:t>
            </a:r>
          </a:p>
          <a:p>
            <a:pPr marL="971550" lvl="1" indent="-514350">
              <a:buFont typeface="Arial" pitchFamily="34" charset="0"/>
              <a:buChar char="•"/>
            </a:pPr>
            <a:r>
              <a:rPr lang="en-IN" dirty="0" smtClean="0"/>
              <a:t>TEST TOOL 	       : INSTRUMENTATION</a:t>
            </a:r>
          </a:p>
          <a:p>
            <a:pPr marL="971550" lvl="1" indent="-514350">
              <a:buFont typeface="Arial" pitchFamily="34" charset="0"/>
              <a:buChar char="•"/>
            </a:pPr>
            <a:r>
              <a:rPr lang="en-IN" dirty="0" smtClean="0"/>
              <a:t>TEST TECHNIQUE   : STRESS</a:t>
            </a:r>
          </a:p>
          <a:p>
            <a:pPr marL="571500" indent="-514350">
              <a:buFont typeface="+mj-lt"/>
              <a:buAutoNum type="arabicPeriod"/>
            </a:pPr>
            <a:r>
              <a:rPr lang="en-IN" dirty="0" smtClean="0"/>
              <a:t>Have training programs been prepared for the people who will use the application system?</a:t>
            </a:r>
          </a:p>
          <a:p>
            <a:pPr marL="971550" lvl="1" indent="-514350">
              <a:buFont typeface="Arial" pitchFamily="34" charset="0"/>
              <a:buChar char="•"/>
            </a:pPr>
            <a:r>
              <a:rPr lang="en-IN" dirty="0" smtClean="0"/>
              <a:t>TEST TOOL 	       : CHECK LIST AND INSPECTIONS</a:t>
            </a:r>
          </a:p>
          <a:p>
            <a:pPr marL="971550" lvl="1" indent="-514350">
              <a:buFont typeface="Arial" pitchFamily="34" charset="0"/>
              <a:buChar char="•"/>
            </a:pPr>
            <a:r>
              <a:rPr lang="en-IN" dirty="0" smtClean="0"/>
              <a:t>TEST TECHNIQUE   : EXECUTION</a:t>
            </a:r>
          </a:p>
          <a:p>
            <a:pPr lvl="1">
              <a:buFont typeface="Arial" pitchFamily="34" charset="0"/>
              <a:buChar char="•"/>
            </a:pPr>
            <a:endParaRPr lang="en-IN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TESTING PHASE TEST PROCESS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 smtClean="0"/>
              <a:t>TEST FACTOR : </a:t>
            </a:r>
            <a:r>
              <a:rPr lang="en-IN" b="1" dirty="0" smtClean="0">
                <a:solidFill>
                  <a:srgbClr val="7030A0"/>
                </a:solidFill>
              </a:rPr>
              <a:t>RELIABILITY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IN" dirty="0" smtClean="0"/>
              <a:t>Have tests been made to verify that missing sequence numbers will be detected?</a:t>
            </a:r>
          </a:p>
          <a:p>
            <a:pPr marL="1371600" lvl="2" indent="-457200"/>
            <a:r>
              <a:rPr lang="en-IN" dirty="0" smtClean="0"/>
              <a:t>TEST TECHNIQUE : REQUIREMENTS</a:t>
            </a:r>
          </a:p>
          <a:p>
            <a:pPr marL="1371600" lvl="2" indent="-457200"/>
            <a:r>
              <a:rPr lang="en-IN" dirty="0" smtClean="0"/>
              <a:t>TEST TOOL	            : TEST DATA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IN" dirty="0" smtClean="0"/>
              <a:t>Have the tests been conducted to verify that inaccurate batch totals will be detected?</a:t>
            </a:r>
          </a:p>
          <a:p>
            <a:pPr marL="1371600" lvl="2" indent="-457200"/>
            <a:r>
              <a:rPr lang="en-IN" dirty="0" smtClean="0"/>
              <a:t>TEST TECHNIQUE : ERROR HANDLING</a:t>
            </a:r>
          </a:p>
          <a:p>
            <a:pPr marL="1371600" lvl="2" indent="-457200"/>
            <a:r>
              <a:rPr lang="en-IN" dirty="0" smtClean="0"/>
              <a:t>TEST TOOL	            : TEST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TESTING PHASE TEST PROCESS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IN" dirty="0" smtClean="0"/>
              <a:t>TEST FACTOR : </a:t>
            </a:r>
            <a:r>
              <a:rPr lang="en-IN" b="1" dirty="0" smtClean="0">
                <a:solidFill>
                  <a:srgbClr val="7030A0"/>
                </a:solidFill>
              </a:rPr>
              <a:t>FUNCTIONAL TESTING(File 							Integrity)</a:t>
            </a:r>
          </a:p>
          <a:p>
            <a:pPr marL="914400" lvl="1" indent="-514350">
              <a:buFont typeface="Arial" pitchFamily="34" charset="0"/>
              <a:buChar char="•"/>
            </a:pPr>
            <a:r>
              <a:rPr lang="en-IN" dirty="0" smtClean="0"/>
              <a:t>Have integrity procedures been tested to ensure that updates are Properly recorded?</a:t>
            </a:r>
          </a:p>
          <a:p>
            <a:pPr marL="1314450" lvl="2" indent="-514350"/>
            <a:r>
              <a:rPr lang="en-IN" dirty="0" smtClean="0"/>
              <a:t>TEST TECHNIQUE : REQUIREMENTS</a:t>
            </a:r>
          </a:p>
          <a:p>
            <a:pPr marL="1314450" lvl="2" indent="-514350"/>
            <a:r>
              <a:rPr lang="en-IN" dirty="0" smtClean="0"/>
              <a:t>TEST TOOL : TEST DATA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IN" b="1" dirty="0" smtClean="0">
                <a:solidFill>
                  <a:srgbClr val="7030A0"/>
                </a:solidFill>
              </a:rPr>
              <a:t>RECOVERY TESTING (CONTINUITY OF 							PROCESSING)</a:t>
            </a:r>
          </a:p>
          <a:p>
            <a:pPr marL="914400" lvl="1" indent="-514350">
              <a:buFont typeface="Arial" pitchFamily="34" charset="0"/>
              <a:buChar char="•"/>
            </a:pPr>
            <a:r>
              <a:rPr lang="en-IN" dirty="0" smtClean="0"/>
              <a:t>Can people perform the recovery operation from the recovery procedures?</a:t>
            </a:r>
          </a:p>
          <a:p>
            <a:pPr marL="1314450" lvl="2" indent="-514350"/>
            <a:r>
              <a:rPr lang="en-IN" dirty="0" smtClean="0"/>
              <a:t>TEST TECHNIQUE : OPERATIONS</a:t>
            </a:r>
          </a:p>
          <a:p>
            <a:pPr marL="1314450" lvl="2" indent="-514350"/>
            <a:r>
              <a:rPr lang="en-IN" dirty="0" smtClean="0"/>
              <a:t>TEST TOOL : DISASTER TEST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TESTING PHASE TEST PROCESS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en-IN" b="1" dirty="0" smtClean="0">
                <a:solidFill>
                  <a:srgbClr val="7030A0"/>
                </a:solidFill>
              </a:rPr>
              <a:t>COMPLIANCE TEST (PERFORMANCE)</a:t>
            </a:r>
          </a:p>
          <a:p>
            <a:pPr lvl="1">
              <a:buFont typeface="Arial" pitchFamily="34" charset="0"/>
              <a:buChar char="•"/>
            </a:pPr>
            <a:r>
              <a:rPr lang="en-IN" dirty="0" smtClean="0"/>
              <a:t>Does the test phase indicate that expected benefits will be received?</a:t>
            </a:r>
          </a:p>
          <a:p>
            <a:pPr lvl="2"/>
            <a:r>
              <a:rPr lang="en-IN" dirty="0" smtClean="0"/>
              <a:t>TEST TECHNIQUE : EXECUTION</a:t>
            </a:r>
          </a:p>
          <a:p>
            <a:pPr lvl="2"/>
            <a:r>
              <a:rPr lang="en-IN" dirty="0" smtClean="0"/>
              <a:t>TEST TOOL : CONFIRMATION / EXAMINATION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INSTALLATION PHASE TESTING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TEST FACTOR : </a:t>
            </a:r>
            <a:r>
              <a:rPr lang="en-IN" b="1" dirty="0" smtClean="0">
                <a:solidFill>
                  <a:srgbClr val="7030A0"/>
                </a:solidFill>
              </a:rPr>
              <a:t>ACCURACY &amp; COMPLETENESS OF INSTALLATION VERIFIED (RELIABILTY)</a:t>
            </a:r>
          </a:p>
          <a:p>
            <a:pPr lvl="1">
              <a:buFont typeface="Arial" pitchFamily="34" charset="0"/>
              <a:buChar char="•"/>
            </a:pPr>
            <a:r>
              <a:rPr lang="en-IN" dirty="0" smtClean="0"/>
              <a:t>Have the data validation installation routines been adequately tested?</a:t>
            </a:r>
          </a:p>
          <a:p>
            <a:pPr lvl="2"/>
            <a:r>
              <a:rPr lang="en-IN" dirty="0" smtClean="0"/>
              <a:t>TEST : Examine completeness of test plan and results of testing</a:t>
            </a:r>
          </a:p>
          <a:p>
            <a:pPr lvl="2"/>
            <a:r>
              <a:rPr lang="en-IN" dirty="0" smtClean="0"/>
              <a:t>TEST TECHNIQUE : EXECUTION</a:t>
            </a:r>
          </a:p>
          <a:p>
            <a:pPr lvl="2"/>
            <a:r>
              <a:rPr lang="en-IN" dirty="0" smtClean="0"/>
              <a:t>TEST TOOL : CHECK LIST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INSTALLATION PHASE TESTING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TEST FACTOR : </a:t>
            </a:r>
            <a:r>
              <a:rPr lang="en-IN" b="1" dirty="0" smtClean="0">
                <a:solidFill>
                  <a:srgbClr val="7030A0"/>
                </a:solidFill>
              </a:rPr>
              <a:t>IMPLEMENT FAIL SAFE 		</a:t>
            </a:r>
            <a:r>
              <a:rPr lang="en-IN" b="1" dirty="0" smtClean="0">
                <a:solidFill>
                  <a:srgbClr val="7030A0"/>
                </a:solidFill>
              </a:rPr>
              <a:t> </a:t>
            </a:r>
            <a:r>
              <a:rPr lang="en-IN" b="1" dirty="0" smtClean="0">
                <a:solidFill>
                  <a:srgbClr val="7030A0"/>
                </a:solidFill>
              </a:rPr>
              <a:t>INSTALLATION PLAN (SERVICE LEVEL)</a:t>
            </a:r>
          </a:p>
          <a:p>
            <a:pPr lvl="1">
              <a:buFont typeface="Arial" pitchFamily="34" charset="0"/>
              <a:buChar char="•"/>
            </a:pPr>
            <a:r>
              <a:rPr lang="en-IN" dirty="0" smtClean="0"/>
              <a:t>Has each step of installation plan been documented in the sequence in which it should be performed?</a:t>
            </a:r>
          </a:p>
          <a:p>
            <a:pPr lvl="2"/>
            <a:r>
              <a:rPr lang="en-IN" dirty="0" smtClean="0"/>
              <a:t>TEST : Examine the adequacy of installation plan.</a:t>
            </a:r>
          </a:p>
          <a:p>
            <a:pPr lvl="2"/>
            <a:r>
              <a:rPr lang="en-IN" dirty="0" smtClean="0"/>
              <a:t>TEST TECHNIQUE : EXECUTION</a:t>
            </a:r>
          </a:p>
          <a:p>
            <a:pPr lvl="2"/>
            <a:r>
              <a:rPr lang="en-IN" dirty="0" smtClean="0"/>
              <a:t> TEST TOOL : FACT FINDING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INSTALLATION PHASE TESTING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TEST FACTOR : </a:t>
            </a:r>
            <a:r>
              <a:rPr lang="en-IN" dirty="0" smtClean="0">
                <a:solidFill>
                  <a:srgbClr val="7030A0"/>
                </a:solidFill>
              </a:rPr>
              <a:t>DOCUMENTATION COMPLETE </a:t>
            </a:r>
            <a:r>
              <a:rPr lang="en-IN" dirty="0" smtClean="0"/>
              <a:t>					(MAINTAINABILITY)</a:t>
            </a:r>
          </a:p>
          <a:p>
            <a:pPr marL="971550" lvl="1" indent="-514350">
              <a:buFont typeface="Arial" pitchFamily="34" charset="0"/>
              <a:buChar char="•"/>
            </a:pPr>
            <a:r>
              <a:rPr lang="en-IN" dirty="0" smtClean="0"/>
              <a:t>Is operating documentation current and complete?</a:t>
            </a:r>
          </a:p>
          <a:p>
            <a:pPr lvl="2"/>
            <a:r>
              <a:rPr lang="en-IN" dirty="0" smtClean="0"/>
              <a:t>TEST TECHNIQUE : COMPLIANCE</a:t>
            </a:r>
          </a:p>
          <a:p>
            <a:pPr lvl="2"/>
            <a:r>
              <a:rPr lang="en-IN" dirty="0" smtClean="0"/>
              <a:t>TEST TOOL : INSPECTION</a:t>
            </a:r>
          </a:p>
          <a:p>
            <a:r>
              <a:rPr lang="en-IN" dirty="0" smtClean="0"/>
              <a:t>TEST FACTOR : </a:t>
            </a:r>
            <a:r>
              <a:rPr lang="en-IN" dirty="0" smtClean="0">
                <a:solidFill>
                  <a:srgbClr val="7030A0"/>
                </a:solidFill>
              </a:rPr>
              <a:t>IMPLEMENT OPERATING 							PROCEDUREDS</a:t>
            </a:r>
          </a:p>
          <a:p>
            <a:pPr lvl="1">
              <a:buFont typeface="Arial" pitchFamily="34" charset="0"/>
              <a:buChar char="•"/>
            </a:pPr>
            <a:r>
              <a:rPr lang="en-IN" dirty="0" smtClean="0"/>
              <a:t>Are needed storage media available?</a:t>
            </a:r>
          </a:p>
          <a:p>
            <a:pPr lvl="2"/>
            <a:r>
              <a:rPr lang="en-IN" dirty="0" smtClean="0"/>
              <a:t>TEST TOOL : CONFIRMATION / EXAMINATION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568</Words>
  <Application>Microsoft Office PowerPoint</Application>
  <PresentationFormat>On-screen Show (4:3)</PresentationFormat>
  <Paragraphs>100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PHASES OF TESTING</vt:lpstr>
      <vt:lpstr>PHASES OF TESTING</vt:lpstr>
      <vt:lpstr>REQUIREMENTS PHASE TESTING</vt:lpstr>
      <vt:lpstr>REQUIREMENTS PHASE TEST PROCESS</vt:lpstr>
      <vt:lpstr>REQUIREMENTS PHASE TEST PROCESS</vt:lpstr>
      <vt:lpstr>DESIGN PHASE TESTING</vt:lpstr>
      <vt:lpstr>DESIGN PHASE TESTING</vt:lpstr>
      <vt:lpstr>PROGRAMMING PHASE TESTING</vt:lpstr>
      <vt:lpstr>PROGRAMMING PHASE TESTING</vt:lpstr>
      <vt:lpstr>PROGRAMMING PHASE TESTING</vt:lpstr>
      <vt:lpstr>TESTING PHASE TEST PROCESS</vt:lpstr>
      <vt:lpstr>TESTING PHASE TEST PROCESS</vt:lpstr>
      <vt:lpstr>TESTING PHASE TEST PROCESS</vt:lpstr>
      <vt:lpstr>INSTALLATION PHASE TESTING</vt:lpstr>
      <vt:lpstr>INSTALLATION PHASE TESTING</vt:lpstr>
      <vt:lpstr>INSTALLATION PHASE TESTING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PHASES OF TESTING</dc:title>
  <dc:creator>Diwakar V</dc:creator>
  <cp:lastModifiedBy>MR</cp:lastModifiedBy>
  <cp:revision>31</cp:revision>
  <dcterms:created xsi:type="dcterms:W3CDTF">2017-02-26T17:48:19Z</dcterms:created>
  <dcterms:modified xsi:type="dcterms:W3CDTF">2018-01-20T10:20:54Z</dcterms:modified>
</cp:coreProperties>
</file>