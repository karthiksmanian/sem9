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06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401081B-90DC-451B-9FEF-65F67E527FFE}" type="datetimeFigureOut">
              <a:rPr lang="en-IN" smtClean="0"/>
              <a:pPr/>
              <a:t>11/27/2017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5D73F9-42C4-497E-A182-7F13478D36DE}"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401081B-90DC-451B-9FEF-65F67E527FFE}" type="datetimeFigureOut">
              <a:rPr lang="en-IN" smtClean="0"/>
              <a:pPr/>
              <a:t>11/27/2017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5D73F9-42C4-497E-A182-7F13478D36DE}"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401081B-90DC-451B-9FEF-65F67E527FFE}" type="datetimeFigureOut">
              <a:rPr lang="en-IN" smtClean="0"/>
              <a:pPr/>
              <a:t>11/27/2017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5D73F9-42C4-497E-A182-7F13478D36DE}"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401081B-90DC-451B-9FEF-65F67E527FFE}" type="datetimeFigureOut">
              <a:rPr lang="en-IN" smtClean="0"/>
              <a:pPr/>
              <a:t>11/27/2017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5D73F9-42C4-497E-A182-7F13478D36DE}"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401081B-90DC-451B-9FEF-65F67E527FFE}" type="datetimeFigureOut">
              <a:rPr lang="en-IN" smtClean="0"/>
              <a:pPr/>
              <a:t>11/27/2017</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D5D73F9-42C4-497E-A182-7F13478D36DE}"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401081B-90DC-451B-9FEF-65F67E527FFE}" type="datetimeFigureOut">
              <a:rPr lang="en-IN" smtClean="0"/>
              <a:pPr/>
              <a:t>11/27/2017</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D5D73F9-42C4-497E-A182-7F13478D36DE}"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01081B-90DC-451B-9FEF-65F67E527FFE}" type="datetimeFigureOut">
              <a:rPr lang="en-IN" smtClean="0"/>
              <a:pPr/>
              <a:t>11/27/2017</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D5D73F9-42C4-497E-A182-7F13478D36DE}"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01081B-90DC-451B-9FEF-65F67E527FFE}" type="datetimeFigureOut">
              <a:rPr lang="en-IN" smtClean="0"/>
              <a:pPr/>
              <a:t>11/27/2017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5D73F9-42C4-497E-A182-7F13478D36DE}"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01081B-90DC-451B-9FEF-65F67E527FFE}" type="datetimeFigureOut">
              <a:rPr lang="en-IN" smtClean="0"/>
              <a:pPr/>
              <a:t>11/27/2017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5D73F9-42C4-497E-A182-7F13478D36DE}"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401081B-90DC-451B-9FEF-65F67E527FFE}" type="datetimeFigureOut">
              <a:rPr lang="en-IN" smtClean="0"/>
              <a:pPr/>
              <a:t>11/27/2017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5D73F9-42C4-497E-A182-7F13478D36DE}"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401081B-90DC-451B-9FEF-65F67E527FFE}" type="datetimeFigureOut">
              <a:rPr lang="en-IN" smtClean="0"/>
              <a:pPr/>
              <a:t>11/27/2017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5D73F9-42C4-497E-A182-7F13478D36DE}"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01081B-90DC-451B-9FEF-65F67E527FFE}" type="datetimeFigureOut">
              <a:rPr lang="en-IN" smtClean="0"/>
              <a:pPr/>
              <a:t>11/27/2017</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5D73F9-42C4-497E-A182-7F13478D36DE}"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LIFE CYCLE TESTING APPROACH</a:t>
            </a:r>
            <a:endParaRPr lang="en-IN" dirty="0"/>
          </a:p>
        </p:txBody>
      </p:sp>
      <p:sp>
        <p:nvSpPr>
          <p:cNvPr id="3" name="Subtitle 2"/>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smtClean="0"/>
              <a:t>LIFE CYCLE TESTING APPROACH</a:t>
            </a:r>
            <a:endParaRPr lang="en-IN" dirty="0"/>
          </a:p>
        </p:txBody>
      </p:sp>
      <p:sp>
        <p:nvSpPr>
          <p:cNvPr id="3" name="Content Placeholder 2"/>
          <p:cNvSpPr>
            <a:spLocks noGrp="1"/>
          </p:cNvSpPr>
          <p:nvPr>
            <p:ph idx="1"/>
          </p:nvPr>
        </p:nvSpPr>
        <p:spPr/>
        <p:txBody>
          <a:bodyPr>
            <a:normAutofit fontScale="92500"/>
          </a:bodyPr>
          <a:lstStyle/>
          <a:p>
            <a:r>
              <a:rPr lang="en-IN" dirty="0" smtClean="0"/>
              <a:t>Life Cycle testing means performance testing in parallel with System development.</a:t>
            </a:r>
          </a:p>
          <a:p>
            <a:r>
              <a:rPr lang="en-IN" dirty="0" smtClean="0"/>
              <a:t>While the system is being developed, a test plan and test conditions are developed and executed.</a:t>
            </a:r>
          </a:p>
          <a:p>
            <a:r>
              <a:rPr lang="en-IN" dirty="0" smtClean="0"/>
              <a:t>At Pre-determined points during the life cycle, the system is tested to ensure that it is being developed properly and that defects are detected at the earliest possible point in the life cycle</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smtClean="0"/>
              <a:t>COST OF COMPUTER TESTING</a:t>
            </a:r>
            <a:endParaRPr lang="en-IN" dirty="0"/>
          </a:p>
        </p:txBody>
      </p:sp>
      <p:sp>
        <p:nvSpPr>
          <p:cNvPr id="3" name="Content Placeholder 2"/>
          <p:cNvSpPr>
            <a:spLocks noGrp="1"/>
          </p:cNvSpPr>
          <p:nvPr>
            <p:ph idx="1"/>
          </p:nvPr>
        </p:nvSpPr>
        <p:spPr/>
        <p:txBody>
          <a:bodyPr/>
          <a:lstStyle/>
          <a:p>
            <a:r>
              <a:rPr lang="en-IN" dirty="0" smtClean="0"/>
              <a:t>There are two general categories:</a:t>
            </a:r>
          </a:p>
          <a:p>
            <a:pPr lvl="1"/>
            <a:r>
              <a:rPr lang="en-IN" dirty="0" smtClean="0"/>
              <a:t>Pre Implementation: </a:t>
            </a:r>
          </a:p>
          <a:p>
            <a:pPr lvl="2"/>
            <a:r>
              <a:rPr lang="en-IN" dirty="0" smtClean="0"/>
              <a:t>Activities that occur before placing the application system in an operational status.</a:t>
            </a:r>
          </a:p>
          <a:p>
            <a:pPr lvl="1"/>
            <a:r>
              <a:rPr lang="en-IN" dirty="0" smtClean="0"/>
              <a:t>Post Implementation:</a:t>
            </a:r>
          </a:p>
          <a:p>
            <a:pPr lvl="2"/>
            <a:r>
              <a:rPr lang="en-IN" dirty="0" smtClean="0"/>
              <a:t>Testing process occurs after system goes into operation.</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sz="4000" dirty="0" smtClean="0"/>
              <a:t>Pre Implementation Testing-Cost Factors</a:t>
            </a:r>
            <a:endParaRPr lang="en-IN" sz="4000" dirty="0"/>
          </a:p>
        </p:txBody>
      </p:sp>
      <p:sp>
        <p:nvSpPr>
          <p:cNvPr id="3" name="Content Placeholder 2"/>
          <p:cNvSpPr>
            <a:spLocks noGrp="1"/>
          </p:cNvSpPr>
          <p:nvPr>
            <p:ph idx="1"/>
          </p:nvPr>
        </p:nvSpPr>
        <p:spPr/>
        <p:txBody>
          <a:bodyPr/>
          <a:lstStyle/>
          <a:p>
            <a:pPr marL="514350" indent="-514350">
              <a:buFont typeface="+mj-lt"/>
              <a:buAutoNum type="arabicPeriod"/>
            </a:pPr>
            <a:r>
              <a:rPr lang="en-IN" dirty="0" smtClean="0"/>
              <a:t>Building defect into the system.</a:t>
            </a:r>
          </a:p>
          <a:p>
            <a:pPr marL="514350" indent="-514350">
              <a:buFont typeface="+mj-lt"/>
              <a:buAutoNum type="arabicPeriod"/>
            </a:pPr>
            <a:r>
              <a:rPr lang="en-IN" dirty="0" smtClean="0"/>
              <a:t>Identifying the existence of a defect.</a:t>
            </a:r>
          </a:p>
          <a:p>
            <a:pPr marL="514350" indent="-514350">
              <a:buFont typeface="+mj-lt"/>
              <a:buAutoNum type="arabicPeriod"/>
            </a:pPr>
            <a:r>
              <a:rPr lang="en-IN" dirty="0" smtClean="0"/>
              <a:t>Correcting the defect.</a:t>
            </a:r>
          </a:p>
          <a:p>
            <a:pPr marL="514350" indent="-514350">
              <a:buFont typeface="+mj-lt"/>
              <a:buAutoNum type="arabicPeriod"/>
            </a:pPr>
            <a:r>
              <a:rPr lang="en-IN" dirty="0" smtClean="0"/>
              <a:t>Testing to determine that the defect is removed.</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600" dirty="0" smtClean="0"/>
              <a:t>Post Implementation Testing-Cost Factors</a:t>
            </a:r>
            <a:endParaRPr lang="en-IN" sz="3600" dirty="0"/>
          </a:p>
        </p:txBody>
      </p:sp>
      <p:sp>
        <p:nvSpPr>
          <p:cNvPr id="3" name="Content Placeholder 2"/>
          <p:cNvSpPr>
            <a:spLocks noGrp="1"/>
          </p:cNvSpPr>
          <p:nvPr>
            <p:ph idx="1"/>
          </p:nvPr>
        </p:nvSpPr>
        <p:spPr/>
        <p:txBody>
          <a:bodyPr>
            <a:normAutofit/>
          </a:bodyPr>
          <a:lstStyle/>
          <a:p>
            <a:r>
              <a:rPr lang="en-IN" dirty="0" smtClean="0"/>
              <a:t>Specifying and coding the defect into the system.</a:t>
            </a:r>
          </a:p>
          <a:p>
            <a:r>
              <a:rPr lang="en-IN" dirty="0" smtClean="0"/>
              <a:t>Detecting the problem within the application system.</a:t>
            </a:r>
          </a:p>
          <a:p>
            <a:r>
              <a:rPr lang="en-IN" dirty="0" smtClean="0"/>
              <a:t>Reporting the problem to Information services and the user.</a:t>
            </a:r>
          </a:p>
          <a:p>
            <a:r>
              <a:rPr lang="en-IN" dirty="0" smtClean="0"/>
              <a:t>Correcting the problems caused by the defect</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600" dirty="0" smtClean="0"/>
              <a:t>Post Implementation Testing-Cost Factors</a:t>
            </a:r>
            <a:endParaRPr lang="en-IN" sz="3600" dirty="0"/>
          </a:p>
        </p:txBody>
      </p:sp>
      <p:sp>
        <p:nvSpPr>
          <p:cNvPr id="3" name="Content Placeholder 2"/>
          <p:cNvSpPr>
            <a:spLocks noGrp="1"/>
          </p:cNvSpPr>
          <p:nvPr>
            <p:ph idx="1"/>
          </p:nvPr>
        </p:nvSpPr>
        <p:spPr/>
        <p:txBody>
          <a:bodyPr/>
          <a:lstStyle/>
          <a:p>
            <a:r>
              <a:rPr lang="en-IN" dirty="0" smtClean="0"/>
              <a:t>Operating the system until the defect is corrected.</a:t>
            </a:r>
          </a:p>
          <a:p>
            <a:r>
              <a:rPr lang="en-IN" dirty="0" smtClean="0"/>
              <a:t>Correcting the defect.</a:t>
            </a:r>
          </a:p>
          <a:p>
            <a:r>
              <a:rPr lang="en-IN" dirty="0" smtClean="0"/>
              <a:t>Testing to determine that the defect no longer exists.</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4000" dirty="0" smtClean="0"/>
              <a:t>QUANTIFYING THE COST OF REMOVING DEFECTS</a:t>
            </a:r>
            <a:endParaRPr lang="en-IN" sz="4000" dirty="0"/>
          </a:p>
        </p:txBody>
      </p:sp>
      <p:sp>
        <p:nvSpPr>
          <p:cNvPr id="3" name="Content Placeholder 2"/>
          <p:cNvSpPr>
            <a:spLocks noGrp="1"/>
          </p:cNvSpPr>
          <p:nvPr>
            <p:ph idx="1"/>
          </p:nvPr>
        </p:nvSpPr>
        <p:spPr/>
        <p:txBody>
          <a:bodyPr/>
          <a:lstStyle/>
          <a:p>
            <a:r>
              <a:rPr lang="en-IN" dirty="0" smtClean="0"/>
              <a:t>Quality Assurance Institute Surveys indicate that there are approximately 60 defects in an application system per 1000 source statements.</a:t>
            </a:r>
          </a:p>
          <a:p>
            <a:r>
              <a:rPr lang="en-IN" dirty="0" smtClean="0"/>
              <a:t>40 out of 60 defects occur in Requirements and Design phase of the applications system.</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dirty="0" smtClean="0"/>
              <a:t>Defects built into Application System include:</a:t>
            </a:r>
            <a:endParaRPr lang="en-IN" sz="3200" dirty="0"/>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IN" dirty="0" smtClean="0"/>
              <a:t>Improperly Interpreted Requirements:</a:t>
            </a:r>
          </a:p>
          <a:p>
            <a:pPr marL="971550" lvl="1" indent="-514350">
              <a:buFont typeface="Arial" pitchFamily="34" charset="0"/>
              <a:buChar char="•"/>
            </a:pPr>
            <a:r>
              <a:rPr lang="en-IN" dirty="0" smtClean="0"/>
              <a:t>Information Systems People misinterpret what user wants, but correctly implement what they believe is wanted.</a:t>
            </a:r>
          </a:p>
          <a:p>
            <a:pPr marL="514350" indent="-514350">
              <a:buFont typeface="+mj-lt"/>
              <a:buAutoNum type="arabicPeriod"/>
            </a:pPr>
            <a:r>
              <a:rPr lang="en-IN" dirty="0" smtClean="0"/>
              <a:t>Users specify wrong requirements:</a:t>
            </a:r>
          </a:p>
          <a:p>
            <a:pPr marL="971550" lvl="1" indent="-514350">
              <a:buFont typeface="Arial" pitchFamily="34" charset="0"/>
              <a:buChar char="•"/>
            </a:pPr>
            <a:r>
              <a:rPr lang="en-IN" dirty="0" smtClean="0"/>
              <a:t>The specifications given to the Information Systems People are erroneous.</a:t>
            </a:r>
          </a:p>
          <a:p>
            <a:pPr marL="514350" indent="-514350">
              <a:buFont typeface="+mj-lt"/>
              <a:buAutoNum type="arabicPeriod"/>
            </a:pPr>
            <a:r>
              <a:rPr lang="en-IN" dirty="0" smtClean="0"/>
              <a:t>Requirements are not recorded properly by the Information Systems People.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dirty="0" smtClean="0"/>
              <a:t>Defects built into Application System include:</a:t>
            </a:r>
            <a:endParaRPr lang="en-IN" sz="3200" dirty="0"/>
          </a:p>
        </p:txBody>
      </p:sp>
      <p:sp>
        <p:nvSpPr>
          <p:cNvPr id="3" name="Content Placeholder 2"/>
          <p:cNvSpPr>
            <a:spLocks noGrp="1"/>
          </p:cNvSpPr>
          <p:nvPr>
            <p:ph idx="1"/>
          </p:nvPr>
        </p:nvSpPr>
        <p:spPr>
          <a:xfrm>
            <a:off x="457200" y="1600200"/>
            <a:ext cx="8229600" cy="5257800"/>
          </a:xfrm>
        </p:spPr>
        <p:txBody>
          <a:bodyPr>
            <a:normAutofit/>
          </a:bodyPr>
          <a:lstStyle/>
          <a:p>
            <a:pPr marL="514350" indent="-514350">
              <a:buFont typeface="+mj-lt"/>
              <a:buAutoNum type="arabicPeriod" startAt="4"/>
            </a:pPr>
            <a:r>
              <a:rPr lang="en-IN" dirty="0" smtClean="0"/>
              <a:t>Design Specifications are not correct. Application system design does not achieve the system requirements, but the design as specified may be correctly implemented.</a:t>
            </a:r>
          </a:p>
          <a:p>
            <a:pPr marL="514350" indent="-514350">
              <a:buFont typeface="+mj-lt"/>
              <a:buAutoNum type="arabicPeriod" startAt="4"/>
            </a:pPr>
            <a:r>
              <a:rPr lang="en-IN" dirty="0" smtClean="0"/>
              <a:t>Program Coding Error</a:t>
            </a:r>
          </a:p>
          <a:p>
            <a:pPr marL="971550" lvl="1" indent="-514350">
              <a:buFont typeface="Arial" pitchFamily="34" charset="0"/>
              <a:buChar char="•"/>
            </a:pPr>
            <a:r>
              <a:rPr lang="en-IN" dirty="0" smtClean="0"/>
              <a:t>Program is not coded according to program specifications.</a:t>
            </a:r>
          </a:p>
          <a:p>
            <a:pPr marL="514350" indent="-514350">
              <a:buFont typeface="+mj-lt"/>
              <a:buAutoNum type="arabicPeriod" startAt="4"/>
            </a:pPr>
            <a:r>
              <a:rPr lang="en-IN" dirty="0" smtClean="0"/>
              <a:t>Data Entry Error</a:t>
            </a:r>
          </a:p>
          <a:p>
            <a:pPr marL="971550" lvl="1" indent="-514350">
              <a:buFont typeface="Arial" pitchFamily="34" charset="0"/>
              <a:buChar char="•"/>
            </a:pPr>
            <a:r>
              <a:rPr lang="en-IN" dirty="0" smtClean="0"/>
              <a:t>Information is incorrectly entered into the computer.</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dirty="0" smtClean="0"/>
              <a:t>Defects built into Application System include:</a:t>
            </a:r>
            <a:endParaRPr lang="en-IN" sz="3200" dirty="0"/>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startAt="7"/>
            </a:pPr>
            <a:r>
              <a:rPr lang="en-IN" dirty="0" smtClean="0"/>
              <a:t>Testing Error</a:t>
            </a:r>
          </a:p>
          <a:p>
            <a:pPr marL="971550" lvl="1" indent="-514350">
              <a:buFont typeface="Arial" pitchFamily="34" charset="0"/>
              <a:buChar char="•"/>
            </a:pPr>
            <a:r>
              <a:rPr lang="en-IN" dirty="0" smtClean="0"/>
              <a:t>The best either ends with an error or fails to detect an error in the application system.</a:t>
            </a:r>
          </a:p>
          <a:p>
            <a:pPr marL="514350" indent="-514350">
              <a:buFont typeface="+mj-lt"/>
              <a:buAutoNum type="arabicPeriod" startAt="7"/>
            </a:pPr>
            <a:r>
              <a:rPr lang="en-IN" dirty="0" smtClean="0"/>
              <a:t>Error Correction Mistake</a:t>
            </a:r>
          </a:p>
          <a:p>
            <a:pPr marL="971550" lvl="1" indent="-514350">
              <a:buFont typeface="Arial" pitchFamily="34" charset="0"/>
              <a:buChar char="•"/>
            </a:pPr>
            <a:r>
              <a:rPr lang="en-IN" dirty="0" smtClean="0"/>
              <a:t>In the process of correcting an error, the corrected condition contains a defect.</a:t>
            </a:r>
            <a:endParaRPr lang="en-IN" dirty="0"/>
          </a:p>
          <a:p>
            <a:pPr marL="514350" indent="-514350">
              <a:buFont typeface="+mj-lt"/>
              <a:buAutoNum type="arabicPeriod" startAt="7"/>
            </a:pPr>
            <a:r>
              <a:rPr lang="en-IN" dirty="0" smtClean="0"/>
              <a:t>Corrected Condition causes another Defect</a:t>
            </a:r>
          </a:p>
          <a:p>
            <a:pPr marL="971550" lvl="1" indent="-514350">
              <a:buFont typeface="Arial" pitchFamily="34" charset="0"/>
              <a:buChar char="•"/>
            </a:pPr>
            <a:r>
              <a:rPr lang="en-IN" dirty="0" smtClean="0"/>
              <a:t>In the process of correcting a defect,  the correction process itself causes additional defects to  be entered into the application 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Cost to redesign and correct the system is recorded.</a:t>
            </a:r>
          </a:p>
          <a:p>
            <a:r>
              <a:rPr lang="en-IN" dirty="0" smtClean="0"/>
              <a:t>Cost to correct programs by recompiling and change of documentation is also recorded.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r>
              <a:rPr lang="en-IN" dirty="0" smtClean="0"/>
              <a:t>The cost is then multiplied by a factor that represents the totality of the error and problems associated with the defect as follows</a:t>
            </a:r>
          </a:p>
          <a:p>
            <a:pPr lvl="1"/>
            <a:r>
              <a:rPr lang="en-IN" dirty="0" smtClean="0"/>
              <a:t>For defects encountered during Requirements and Design, Cost to correct will be the total cost for correcting the defect.</a:t>
            </a:r>
          </a:p>
          <a:p>
            <a:pPr lvl="1"/>
            <a:r>
              <a:rPr lang="en-IN" dirty="0" smtClean="0"/>
              <a:t>For defects corrected during the system test phase, the total cost is multiplied by a factor of 10.</a:t>
            </a:r>
          </a:p>
          <a:p>
            <a:pPr lvl="1"/>
            <a:r>
              <a:rPr lang="en-IN" dirty="0" smtClean="0"/>
              <a:t>For defects corrected after the system goes into production, total cost is multiplied by  factor of 100.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the cost of quality increases as the system life cycle progresses. relative cost Vs. Project phase"/>
          <p:cNvPicPr>
            <a:picLocks noChangeAspect="1" noChangeArrowheads="1"/>
          </p:cNvPicPr>
          <p:nvPr/>
        </p:nvPicPr>
        <p:blipFill>
          <a:blip r:embed="rId2" cstate="print"/>
          <a:srcRect/>
          <a:stretch>
            <a:fillRect/>
          </a:stretch>
        </p:blipFill>
        <p:spPr bwMode="auto">
          <a:xfrm>
            <a:off x="323528" y="692696"/>
            <a:ext cx="8136904" cy="5256584"/>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773</TotalTime>
  <Words>538</Words>
  <Application>Microsoft Office PowerPoint</Application>
  <PresentationFormat>On-screen Show (4:3)</PresentationFormat>
  <Paragraphs>53</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LIFE CYCLE TESTING APPROACH</vt:lpstr>
      <vt:lpstr>LIFE CYCLE TESTING APPROACH</vt:lpstr>
      <vt:lpstr>COST OF COMPUTER TESTING</vt:lpstr>
      <vt:lpstr>Pre Implementation Testing-Cost Factors</vt:lpstr>
      <vt:lpstr>Post Implementation Testing-Cost Factors</vt:lpstr>
      <vt:lpstr>Post Implementation Testing-Cost Factors</vt:lpstr>
      <vt:lpstr>QUANTIFYING THE COST OF REMOVING DEFECTS</vt:lpstr>
      <vt:lpstr>Defects built into Application System include:</vt:lpstr>
      <vt:lpstr>Defects built into Application System include:</vt:lpstr>
      <vt:lpstr>Defects built into Application System include:</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 CYCLE TESTING APPROACH</dc:title>
  <dc:creator>Diwakar V</dc:creator>
  <cp:lastModifiedBy>MR</cp:lastModifiedBy>
  <cp:revision>77</cp:revision>
  <dcterms:created xsi:type="dcterms:W3CDTF">2017-02-21T19:34:07Z</dcterms:created>
  <dcterms:modified xsi:type="dcterms:W3CDTF">2017-11-27T09:17:50Z</dcterms:modified>
</cp:coreProperties>
</file>